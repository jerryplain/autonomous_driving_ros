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60" r:id="rId4"/>
    <p:sldId id="273" r:id="rId5"/>
    <p:sldId id="261" r:id="rId6"/>
    <p:sldId id="262" r:id="rId7"/>
    <p:sldId id="263" r:id="rId8"/>
    <p:sldId id="264" r:id="rId9"/>
    <p:sldId id="259" r:id="rId10"/>
    <p:sldId id="276" r:id="rId11"/>
    <p:sldId id="27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31000" y="2687955"/>
            <a:ext cx="5027295" cy="394843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97890" y="634365"/>
            <a:ext cx="4404360" cy="745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Introduction to ROS</a:t>
            </a:r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7890" y="1424940"/>
            <a:ext cx="5833110" cy="745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Group Project: Autonomous Driving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2000">
                <a:latin typeface="Times New Roman" panose="02020603050405020304" charset="0"/>
                <a:cs typeface="Times New Roman" panose="02020603050405020304" charset="0"/>
              </a:rPr>
              <a:t>Group 13: Progress Report</a:t>
            </a:r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US" altLang="zh-CN" sz="20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2660" y="4253865"/>
            <a:ext cx="2177415" cy="14668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spcAft>
                <a:spcPts val="1200"/>
              </a:spcAft>
            </a:pPr>
            <a:r>
              <a:rPr lang="en-US" altLang="zh-CN"/>
              <a:t>Shijie Zhou</a:t>
            </a:r>
            <a:endParaRPr lang="en-US" altLang="zh-CN"/>
          </a:p>
          <a:p>
            <a:pPr indent="0" fontAlgn="auto">
              <a:spcAft>
                <a:spcPts val="1200"/>
              </a:spcAft>
            </a:pPr>
            <a:r>
              <a:rPr lang="en-US" altLang="zh-CN"/>
              <a:t>Richard Viegener</a:t>
            </a:r>
            <a:endParaRPr lang="en-US" altLang="zh-CN"/>
          </a:p>
          <a:p>
            <a:pPr indent="0" fontAlgn="auto">
              <a:spcAft>
                <a:spcPts val="1200"/>
              </a:spcAft>
            </a:pPr>
            <a:r>
              <a:rPr lang="en-US" altLang="zh-CN"/>
              <a:t>Wenkai Xiao</a:t>
            </a:r>
            <a:endParaRPr lang="en-US" altLang="zh-CN"/>
          </a:p>
          <a:p>
            <a:pPr indent="0" fontAlgn="auto">
              <a:spcAft>
                <a:spcPts val="1200"/>
              </a:spcAft>
            </a:pPr>
            <a:r>
              <a:rPr lang="en-US" altLang="zh-CN"/>
              <a:t>Wenjin Zhang</a:t>
            </a:r>
            <a:endParaRPr lang="en-US" altLang="zh-CN"/>
          </a:p>
          <a:p>
            <a:pPr indent="0" fontAlgn="auto">
              <a:spcAft>
                <a:spcPts val="1200"/>
              </a:spcAft>
            </a:pPr>
            <a:r>
              <a:rPr lang="en-US" altLang="zh-CN"/>
              <a:t>Wenxuan Fu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217297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Perception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2" name="图片 1" descr="3fede19aa29d56dd5a5d6a4ef324080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35" y="3383280"/>
            <a:ext cx="11701145" cy="277304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35635" y="965835"/>
            <a:ext cx="9978390" cy="379730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600"/>
              <a:t>TF Tree Construction &amp; Frame Alignment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/>
          </a:p>
        </p:txBody>
      </p:sp>
      <p:sp>
        <p:nvSpPr>
          <p:cNvPr id="4" name="文本框 3"/>
          <p:cNvSpPr txBox="1"/>
          <p:nvPr/>
        </p:nvSpPr>
        <p:spPr>
          <a:xfrm>
            <a:off x="5228590" y="6303010"/>
            <a:ext cx="17341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/>
              <a:t>Figure 1. TF Tree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>
            <a:off x="635635" y="1522095"/>
            <a:ext cx="9867265" cy="4038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1. The simulator continuously publishes the dynamic transform from the world frame to OurCar/INS.</a:t>
            </a:r>
            <a:endParaRPr lang="en-US" altLang="zh-CN" sz="1600"/>
          </a:p>
          <a:p>
            <a:endParaRPr lang="en-US" altLang="zh-CN" sz="16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5635" y="2061210"/>
            <a:ext cx="9977120" cy="6572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2. Static transforms from OurCar/INS to each front-mounted sensor (depth, RGB left/right, semantic) are broadcast using tf2_ros/static_transform_publisher, ensuring valid timestamps and consistency.</a:t>
            </a:r>
            <a:endParaRPr lang="en-US" altLang="zh-CN" sz="1600"/>
          </a:p>
          <a:p>
            <a:endParaRPr lang="en-US" altLang="zh-CN" sz="16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5635" y="2799715"/>
            <a:ext cx="986663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3. Once initialized, all sensor frames remain fixed relative to the vehicle chassis, avoiding timestamp-related TF lookup errors during runtime.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217297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Perception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5945" y="1078865"/>
            <a:ext cx="5824220" cy="156845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Map Generation Pipeline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1. Subscribe to simulated depth camera data and convert each depth image into a real-time point cloud using the depth_image_proc/point_cloud_xyz nodelet.</a:t>
            </a:r>
            <a:endParaRPr lang="en-US" altLang="zh-CN" sz="1600"/>
          </a:p>
          <a:p>
            <a:endParaRPr lang="en-US" altLang="zh-CN" sz="1600"/>
          </a:p>
        </p:txBody>
      </p:sp>
      <p:pic>
        <p:nvPicPr>
          <p:cNvPr id="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0075" y="2162175"/>
            <a:ext cx="4519930" cy="253428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7437120" y="4696460"/>
            <a:ext cx="354584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2. </a:t>
            </a:r>
            <a:r>
              <a:rPr lang="en-US" altLang="zh-CN" sz="1200"/>
              <a:t>2D occupancy grid/Projected map</a:t>
            </a:r>
            <a:endParaRPr lang="en-US" altLang="zh-CN" sz="1200"/>
          </a:p>
        </p:txBody>
      </p:sp>
      <p:sp>
        <p:nvSpPr>
          <p:cNvPr id="6" name="文本框 5"/>
          <p:cNvSpPr txBox="1"/>
          <p:nvPr/>
        </p:nvSpPr>
        <p:spPr>
          <a:xfrm>
            <a:off x="575945" y="2554605"/>
            <a:ext cx="6096000" cy="7118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2. Feed the generated point cloud (/depth/points) into octomap_server to construct a 3D voxel-based OctoMap.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5945" y="3319145"/>
            <a:ext cx="6096000" cy="9398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1600">
                <a:sym typeface="+mn-ea"/>
              </a:rPr>
              <a:t>3. Apply height filtering (e.g., occupancy_min_z to occupancy_max_z) to exclude irrelevant voxels and focus on navigable space near ground level.</a:t>
            </a:r>
            <a:endParaRPr lang="en-US" altLang="zh-CN" sz="1600"/>
          </a:p>
          <a:p>
            <a:endParaRPr lang="en-US" altLang="zh-CN" sz="1600"/>
          </a:p>
          <a:p>
            <a:endParaRPr lang="en-US" altLang="zh-CN" sz="16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5945" y="4373880"/>
            <a:ext cx="578675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4. Project the filtered 3D map into a 2D occupancy grid centered on the vehicle and publish it on the /projected_map topic as a nav_msgs/OccupancyGrid.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332232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Traffic light detection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4505" y="908685"/>
            <a:ext cx="4071620" cy="10115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indent="0" algn="l" rtl="0">
              <a:buClrTx/>
              <a:buSzTx/>
              <a:buFont typeface="StarSymbol"/>
              <a:buNone/>
            </a:pPr>
            <a:r>
              <a:rPr lang="en-US" altLang="zh-CN" sz="1600">
                <a:sym typeface="+mn-ea"/>
              </a:rPr>
              <a:t>Setup:</a:t>
            </a:r>
            <a:endParaRPr lang="en-US" altLang="zh-CN" sz="1600">
              <a:sym typeface="+mn-ea"/>
            </a:endParaRPr>
          </a:p>
          <a:p>
            <a:pPr marL="0" lvl="1" indent="0" algn="l">
              <a:spcBef>
                <a:spcPts val="1415"/>
              </a:spcBef>
              <a:buClrTx/>
              <a:buSzTx/>
              <a:buFont typeface="StarSymbol"/>
              <a:buNone/>
            </a:pPr>
            <a:r>
              <a:rPr lang="en-US" altLang="zh-CN" sz="1600">
                <a:sym typeface="+mn-ea"/>
              </a:rPr>
              <a:t>- All Cameras are on the same height, the RGB cameras have each 1cm offset</a:t>
            </a:r>
            <a:endParaRPr lang="en-US" altLang="zh-CN" sz="1600"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>
            <a:off x="639135" y="1967650"/>
            <a:ext cx="3168000" cy="41749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845685" y="913130"/>
            <a:ext cx="6895465" cy="2842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1st node:</a:t>
            </a:r>
            <a:endParaRPr lang="en-US" altLang="zh-CN"/>
          </a:p>
          <a:p>
            <a:r>
              <a:rPr lang="en-US" altLang="zh-CN"/>
              <a:t>- Traffic Light pixel coordinates extracted from semantic camera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Depth camera has higher resolution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- Node scales semantic camera into depth camera image size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Topic: traffic_lights_bbox</a:t>
            </a:r>
            <a:endParaRPr lang="en-US" altLang="zh-CN"/>
          </a:p>
          <a:p>
            <a:r>
              <a:rPr lang="en-US" altLang="zh-CN"/>
              <a:t>         - Pixel coordinates depth image</a:t>
            </a:r>
            <a:endParaRPr lang="en-US" altLang="zh-CN"/>
          </a:p>
          <a:p>
            <a:r>
              <a:rPr lang="en-US" altLang="zh-CN">
                <a:sym typeface="+mn-ea"/>
              </a:rPr>
              <a:t>         - </a:t>
            </a:r>
            <a:r>
              <a:rPr lang="en-US" altLang="zh-CN"/>
              <a:t>Distance to each traffic light object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 rot="9000">
            <a:off x="4848400" y="4008380"/>
            <a:ext cx="3450240" cy="230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lum/>
          </a:blip>
          <a:srcRect/>
          <a:stretch>
            <a:fillRect/>
          </a:stretch>
        </p:blipFill>
        <p:spPr>
          <a:xfrm>
            <a:off x="8379460" y="4003675"/>
            <a:ext cx="3115945" cy="231521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5179060" y="6318885"/>
            <a:ext cx="29184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3. </a:t>
            </a:r>
            <a:r>
              <a:rPr lang="de-DE" sz="1200" dirty="0">
                <a:sym typeface="+mn-ea"/>
              </a:rPr>
              <a:t>Traffic Light pixel coordinates </a:t>
            </a:r>
            <a:endParaRPr lang="de-DE" altLang="en-US" sz="1200" dirty="0"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379460" y="6318885"/>
            <a:ext cx="314134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/>
              <a:t>F</a:t>
            </a:r>
            <a:r>
              <a:rPr lang="en-US" altLang="zh-CN" sz="1200"/>
              <a:t>igure 4. Distance to each traffic light object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9" grpId="0"/>
      <p:bldP spid="8" grpId="0"/>
      <p:bldP spid="3" grpId="1"/>
      <p:bldP spid="9" grpId="1"/>
      <p:bldP spid="8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340296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Traffic light detection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4505" y="861060"/>
            <a:ext cx="6095365" cy="1948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2nd node:</a:t>
            </a:r>
            <a:endParaRPr lang="en-US" altLang="zh-CN"/>
          </a:p>
          <a:p>
            <a:r>
              <a:rPr lang="en-US" altLang="zh-CN"/>
              <a:t>- With distance to Traffic Light, Pixel coordinates of depth image, camera intrinsic and offset of RGB camera </a:t>
            </a:r>
            <a:br>
              <a:rPr lang="en-US" altLang="zh-CN"/>
            </a:br>
            <a:r>
              <a:rPr lang="en-US" altLang="zh-CN"/>
              <a:t>=&gt; projection into RGB image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Topic: traffic_lights_bbox_rgb</a:t>
            </a:r>
            <a:endParaRPr lang="en-US" altLang="zh-CN"/>
          </a:p>
          <a:p>
            <a:r>
              <a:rPr lang="en-US" altLang="zh-CN"/>
              <a:t>       - Pixel coordinates RGB image</a:t>
            </a:r>
            <a:endParaRPr lang="en-US" altLang="zh-CN"/>
          </a:p>
          <a:p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lum/>
          </a:blip>
          <a:srcRect/>
          <a:stretch>
            <a:fillRect/>
          </a:stretch>
        </p:blipFill>
        <p:spPr>
          <a:xfrm>
            <a:off x="742315" y="3007995"/>
            <a:ext cx="4517390" cy="34639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文本框 5"/>
          <p:cNvSpPr txBox="1"/>
          <p:nvPr/>
        </p:nvSpPr>
        <p:spPr>
          <a:xfrm>
            <a:off x="6715760" y="988060"/>
            <a:ext cx="5158105" cy="18218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Check for any traffic lights for threshold distance (70m)</a:t>
            </a:r>
            <a:endParaRPr lang="en-US" altLang="zh-CN"/>
          </a:p>
          <a:p>
            <a:r>
              <a:rPr lang="en-US" altLang="zh-CN"/>
              <a:t>Crop image (blue frame)</a:t>
            </a:r>
            <a:endParaRPr lang="en-US" altLang="zh-CN"/>
          </a:p>
          <a:p>
            <a:r>
              <a:rPr lang="en-US" altLang="zh-CN"/>
              <a:t>Check color of traffic light within the frame</a:t>
            </a:r>
            <a:endParaRPr lang="en-US" altLang="zh-CN"/>
          </a:p>
          <a:p>
            <a:r>
              <a:rPr lang="en-US" altLang="zh-CN"/>
              <a:t>Topic: traffic_light_color</a:t>
            </a:r>
            <a:endParaRPr lang="en-US" altLang="zh-CN"/>
          </a:p>
          <a:p>
            <a:r>
              <a:rPr lang="en-US" altLang="zh-CN"/>
              <a:t>Colors: red, yellow, green, none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lum/>
          </a:blip>
          <a:srcRect/>
          <a:stretch>
            <a:fillRect/>
          </a:stretch>
        </p:blipFill>
        <p:spPr>
          <a:xfrm>
            <a:off x="6327725" y="3007975"/>
            <a:ext cx="5199480" cy="33782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文本框 7"/>
          <p:cNvSpPr txBox="1"/>
          <p:nvPr/>
        </p:nvSpPr>
        <p:spPr>
          <a:xfrm>
            <a:off x="1597660" y="6471920"/>
            <a:ext cx="291211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5. </a:t>
            </a:r>
            <a:r>
              <a:rPr lang="en-US" altLang="zh-CN" sz="1200"/>
              <a:t>Pixel coordinates RGB image</a:t>
            </a:r>
            <a:endParaRPr lang="en-US" altLang="zh-CN" sz="1200"/>
          </a:p>
        </p:txBody>
      </p:sp>
      <p:sp>
        <p:nvSpPr>
          <p:cNvPr id="9" name="文本框 8"/>
          <p:cNvSpPr txBox="1"/>
          <p:nvPr/>
        </p:nvSpPr>
        <p:spPr>
          <a:xfrm>
            <a:off x="7073265" y="6386195"/>
            <a:ext cx="37084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6. </a:t>
            </a:r>
            <a:r>
              <a:rPr lang="en-US" altLang="zh-CN" sz="1200"/>
              <a:t>Check color of traffic light within the frame</a:t>
            </a:r>
            <a:endParaRPr lang="en-US" altLang="zh-CN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6" grpId="1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340296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Trajectory Planning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7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10" y="3902710"/>
            <a:ext cx="4431665" cy="21412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484505" y="908050"/>
            <a:ext cx="5610860" cy="230695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Fixed-interval sampling</a:t>
            </a:r>
            <a:endParaRPr lang="en-US" altLang="zh-CN" sz="1600"/>
          </a:p>
          <a:p>
            <a:r>
              <a:rPr lang="en-US" altLang="zh-CN" sz="1600"/>
              <a:t> → The system samples the robot’s state at a regular interval (e.g., every 0.5 seconds) to ensure consistent temporal resolution.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/>
              <a:t>Log trajectory data</a:t>
            </a:r>
            <a:endParaRPr lang="en-US" altLang="zh-CN" sz="1600"/>
          </a:p>
          <a:p>
            <a:r>
              <a:rPr lang="en-US" altLang="zh-CN" sz="1600"/>
              <a:t> → Each sampled point records key information: an auto-incremented index, timestamp, position (x, y, z), yaw angle, and velocity.</a:t>
            </a:r>
            <a:endParaRPr lang="en-US" altLang="zh-CN" sz="1600"/>
          </a:p>
        </p:txBody>
      </p:sp>
      <p:pic>
        <p:nvPicPr>
          <p:cNvPr id="17" name="图片 17" descr="ab40e552c548d5ed590ff306e3b69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8610" y="1285240"/>
            <a:ext cx="4432300" cy="180657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7839075" y="3254375"/>
            <a:ext cx="207200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7. </a:t>
            </a:r>
            <a:r>
              <a:rPr lang="en-US" altLang="zh-CN" sz="1200">
                <a:sym typeface="+mn-ea"/>
              </a:rPr>
              <a:t>Path-Point record</a:t>
            </a:r>
            <a:endParaRPr lang="en-US" altLang="zh-CN" sz="12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082915" y="6132830"/>
            <a:ext cx="15836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8. Trajectory </a:t>
            </a:r>
            <a:endParaRPr lang="en-US" altLang="zh-CN" sz="12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4505" y="3721100"/>
            <a:ext cx="561149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Buffer points in order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→ All valid points are stored sequentially in memory (e.g., a list or queue), forming the full trajectory path.</a:t>
            </a:r>
            <a:endParaRPr lang="en-US" altLang="zh-CN" sz="1600"/>
          </a:p>
          <a:p>
            <a:endParaRPr lang="en-US" altLang="zh-CN" sz="1600"/>
          </a:p>
          <a:p>
            <a:r>
              <a:rPr lang="en-US" altLang="zh-CN" sz="1600">
                <a:sym typeface="+mn-ea"/>
              </a:rPr>
              <a:t>Export to CSV on shutdown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 → When the node is terminated, the complete trajectory is automatically saved to a CSV file (e.g., recorded_path.csv) for analysis or replay.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2" grpId="0"/>
      <p:bldP spid="2" grpId="1"/>
      <p:bldP spid="8" grpId="0"/>
      <p:bldP spid="8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340296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Decision Making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4505" y="917575"/>
            <a:ext cx="628967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1. Node Initialization</a:t>
            </a:r>
            <a:endParaRPr lang="en-US" altLang="zh-CN" sz="1600"/>
          </a:p>
          <a:p>
            <a:r>
              <a:rPr lang="en-US" altLang="zh-CN" sz="1600"/>
              <a:t>Configure subscriber rate (20 Hz) and distance threshold (20 m).</a:t>
            </a:r>
            <a:endParaRPr lang="en-US" altLang="zh-CN" sz="1600"/>
          </a:p>
          <a:p>
            <a:r>
              <a:rPr lang="en-US" altLang="zh-CN" sz="1600"/>
              <a:t>Advertise the /traffic_decision publisher.</a:t>
            </a:r>
            <a:endParaRPr lang="en-US" altLang="zh-CN" sz="1600"/>
          </a:p>
        </p:txBody>
      </p:sp>
      <p:pic>
        <p:nvPicPr>
          <p:cNvPr id="9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7855" y="4140200"/>
            <a:ext cx="3724910" cy="224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6705" y="4140200"/>
            <a:ext cx="4043045" cy="22479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805680" y="6456680"/>
            <a:ext cx="26650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9. Decision Making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>
                <a:sym typeface="+mn-ea"/>
              </a:rPr>
              <a:t>D</a:t>
            </a:r>
            <a:r>
              <a:rPr lang="en-US" altLang="zh-CN" sz="1200">
                <a:sym typeface="+mn-ea"/>
              </a:rPr>
              <a:t>rive</a:t>
            </a:r>
            <a:endParaRPr lang="en-US" altLang="zh-CN" sz="120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68080" y="6456680"/>
            <a:ext cx="2665095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200">
                <a:sym typeface="+mn-ea"/>
              </a:rPr>
              <a:t>Figure 10. Decision Making</a:t>
            </a:r>
            <a:r>
              <a:rPr lang="zh-CN" altLang="en-US" sz="1200">
                <a:sym typeface="+mn-ea"/>
              </a:rPr>
              <a:t>：</a:t>
            </a:r>
            <a:r>
              <a:rPr lang="en-US" altLang="zh-CN" sz="1200">
                <a:sym typeface="+mn-ea"/>
              </a:rPr>
              <a:t>B</a:t>
            </a:r>
            <a:r>
              <a:rPr lang="en-US" altLang="zh-CN" sz="1200">
                <a:sym typeface="+mn-ea"/>
              </a:rPr>
              <a:t>rake</a:t>
            </a:r>
            <a:endParaRPr lang="en-US" altLang="zh-CN" sz="120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84505" y="1900555"/>
            <a:ext cx="859091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2. Subscribe to /traffic_light_color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Receive messages at 20 Hz in the format "id:state:confidence:distance" (or equivalent fields).</a:t>
            </a:r>
            <a:endParaRPr lang="en-US" altLang="zh-CN" sz="1600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84505" y="2766060"/>
            <a:ext cx="698627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3. Parse Incoming Message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Split the payload to extract state (red/yellow/green/unknown) and distance.</a:t>
            </a:r>
            <a:endParaRPr lang="en-US" altLang="zh-CN" sz="1600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4505" y="3585845"/>
            <a:ext cx="363283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4. Distance Check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If distance &lt; 20 m, proceed to step 6.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Otherwise, skip to step 6.</a:t>
            </a:r>
            <a:endParaRPr lang="en-US" altLang="zh-CN" sz="1600"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4505" y="4709160"/>
            <a:ext cx="349948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5. State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Command Mapping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red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"BRAKE"; green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"DRIVE"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anything else </a:t>
            </a:r>
            <a:r>
              <a:rPr lang="en-US" altLang="en-US" sz="1600">
                <a:sym typeface="+mn-ea"/>
              </a:rPr>
              <a:t>→</a:t>
            </a:r>
            <a:r>
              <a:rPr lang="en-US" altLang="zh-CN" sz="1600">
                <a:sym typeface="+mn-ea"/>
              </a:rPr>
              <a:t> "UNKNOWN"</a:t>
            </a:r>
            <a:endParaRPr lang="en-US" altLang="zh-CN" sz="1600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84505" y="5726430"/>
            <a:ext cx="208978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sym typeface="+mn-ea"/>
              </a:rPr>
              <a:t>6. Publish Decision</a:t>
            </a:r>
            <a:endParaRPr lang="en-US" altLang="zh-CN" sz="160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8" grpId="0"/>
      <p:bldP spid="8" grpId="1"/>
      <p:bldP spid="10" grpId="0"/>
      <p:bldP spid="10" grpId="1"/>
      <p:bldP spid="11" grpId="0"/>
      <p:bldP spid="11" grpId="1"/>
      <p:bldP spid="12" grpId="0"/>
      <p:bldP spid="12" grpId="1"/>
      <p:bldP spid="6" grpId="0"/>
      <p:bldP spid="4" grpId="0"/>
      <p:bldP spid="6" grpId="1"/>
      <p:bldP spid="4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217297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Controller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8345" y="913765"/>
            <a:ext cx="101473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rgbClr val="FF0000"/>
                </a:solidFill>
                <a:cs typeface="+mn-lt"/>
              </a:rPr>
              <a:t>Two PID controllers</a:t>
            </a:r>
            <a:r>
              <a:rPr lang="zh-CN" altLang="en-US" sz="1600">
                <a:cs typeface="+mn-lt"/>
              </a:rPr>
              <a:t> are used to </a:t>
            </a:r>
            <a:r>
              <a:rPr lang="zh-CN" altLang="en-US" sz="1600">
                <a:solidFill>
                  <a:schemeClr val="tx1"/>
                </a:solidFill>
                <a:cs typeface="+mn-lt"/>
              </a:rPr>
              <a:t>output</a:t>
            </a:r>
            <a:r>
              <a:rPr lang="zh-CN" altLang="en-US" sz="1600">
                <a:solidFill>
                  <a:srgbClr val="FF0000"/>
                </a:solidFill>
                <a:cs typeface="+mn-lt"/>
              </a:rPr>
              <a:t> throttle</a:t>
            </a:r>
            <a:r>
              <a:rPr lang="zh-CN" altLang="en-US" sz="1600">
                <a:cs typeface="+mn-lt"/>
              </a:rPr>
              <a:t> and </a:t>
            </a:r>
            <a:r>
              <a:rPr lang="zh-CN" altLang="en-US" sz="1600">
                <a:solidFill>
                  <a:srgbClr val="FF0000"/>
                </a:solidFill>
                <a:cs typeface="+mn-lt"/>
              </a:rPr>
              <a:t>steering</a:t>
            </a:r>
            <a:r>
              <a:rPr lang="zh-CN" altLang="en-US" sz="1600">
                <a:cs typeface="+mn-lt"/>
              </a:rPr>
              <a:t> control values to the actuator, while </a:t>
            </a:r>
            <a:r>
              <a:rPr lang="zh-CN" altLang="en-US" sz="1600">
                <a:solidFill>
                  <a:srgbClr val="FF0000"/>
                </a:solidFill>
                <a:cs typeface="+mn-lt"/>
              </a:rPr>
              <a:t>complying with the decisions</a:t>
            </a:r>
            <a:r>
              <a:rPr lang="zh-CN" altLang="en-US" sz="1600">
                <a:cs typeface="+mn-lt"/>
              </a:rPr>
              <a:t> from the decision-making module. </a:t>
            </a:r>
            <a:endParaRPr lang="zh-CN" altLang="en-US" sz="1600">
              <a:cs typeface="+mn-lt"/>
            </a:endParaRPr>
          </a:p>
        </p:txBody>
      </p:sp>
      <p:pic>
        <p:nvPicPr>
          <p:cNvPr id="6" name="图片 5" descr="2025-07-19 05-45-30 的屏幕截图"/>
          <p:cNvPicPr>
            <a:picLocks noChangeAspect="1"/>
          </p:cNvPicPr>
          <p:nvPr/>
        </p:nvPicPr>
        <p:blipFill>
          <a:blip r:embed="rId2"/>
          <a:srcRect l="2714" t="75602" r="53513" b="20917"/>
          <a:stretch>
            <a:fillRect/>
          </a:stretch>
        </p:blipFill>
        <p:spPr>
          <a:xfrm>
            <a:off x="1012190" y="4218305"/>
            <a:ext cx="6538595" cy="3251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69620" y="1880870"/>
            <a:ext cx="91313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Node:</a:t>
            </a:r>
            <a:endParaRPr lang="en-US" altLang="zh-CN" sz="1200" b="1"/>
          </a:p>
        </p:txBody>
      </p:sp>
      <p:sp>
        <p:nvSpPr>
          <p:cNvPr id="8" name="椭圆 7"/>
          <p:cNvSpPr/>
          <p:nvPr/>
        </p:nvSpPr>
        <p:spPr>
          <a:xfrm>
            <a:off x="1128395" y="229298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295400" y="2177415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pid_controller_node</a:t>
            </a:r>
            <a:endParaRPr lang="en-US" altLang="zh-CN" sz="1400"/>
          </a:p>
        </p:txBody>
      </p:sp>
      <p:pic>
        <p:nvPicPr>
          <p:cNvPr id="11" name="图片 10" descr="2025-07-19 05-41-43 的屏幕截图"/>
          <p:cNvPicPr>
            <a:picLocks noChangeAspect="1"/>
          </p:cNvPicPr>
          <p:nvPr/>
        </p:nvPicPr>
        <p:blipFill>
          <a:blip r:embed="rId3"/>
          <a:srcRect l="2824" t="63324" r="53137" b="33370"/>
          <a:stretch>
            <a:fillRect/>
          </a:stretch>
        </p:blipFill>
        <p:spPr>
          <a:xfrm>
            <a:off x="1012190" y="6260465"/>
            <a:ext cx="6496685" cy="3048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848995" y="2684780"/>
            <a:ext cx="11156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Subscribe:</a:t>
            </a:r>
            <a:endParaRPr lang="en-US" altLang="zh-CN" sz="1200" b="1"/>
          </a:p>
        </p:txBody>
      </p:sp>
      <p:sp>
        <p:nvSpPr>
          <p:cNvPr id="14" name="椭圆 13"/>
          <p:cNvSpPr/>
          <p:nvPr/>
        </p:nvSpPr>
        <p:spPr>
          <a:xfrm>
            <a:off x="1061085" y="387731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1295400" y="376174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/traffic_decision</a:t>
            </a:r>
            <a:endParaRPr lang="en-US" altLang="zh-CN" sz="1400"/>
          </a:p>
        </p:txBody>
      </p:sp>
      <p:sp>
        <p:nvSpPr>
          <p:cNvPr id="16" name="椭圆 15"/>
          <p:cNvSpPr/>
          <p:nvPr/>
        </p:nvSpPr>
        <p:spPr>
          <a:xfrm>
            <a:off x="1054735" y="311023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89050" y="299212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/goal</a:t>
            </a:r>
            <a:endParaRPr lang="en-US" altLang="zh-CN" sz="1400"/>
          </a:p>
        </p:txBody>
      </p:sp>
      <p:sp>
        <p:nvSpPr>
          <p:cNvPr id="18" name="文本框 17"/>
          <p:cNvSpPr txBox="1"/>
          <p:nvPr/>
        </p:nvSpPr>
        <p:spPr>
          <a:xfrm>
            <a:off x="1289050" y="3361055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/pose</a:t>
            </a:r>
            <a:endParaRPr lang="en-US" altLang="zh-CN" sz="1400"/>
          </a:p>
        </p:txBody>
      </p:sp>
      <p:cxnSp>
        <p:nvCxnSpPr>
          <p:cNvPr id="21" name="直接箭头连接符 20"/>
          <p:cNvCxnSpPr/>
          <p:nvPr/>
        </p:nvCxnSpPr>
        <p:spPr>
          <a:xfrm>
            <a:off x="2865120" y="3923030"/>
            <a:ext cx="32258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3187700" y="376174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Driving strategy</a:t>
            </a:r>
            <a:endParaRPr lang="en-US" altLang="zh-CN" sz="1400"/>
          </a:p>
        </p:txBody>
      </p:sp>
      <p:cxnSp>
        <p:nvCxnSpPr>
          <p:cNvPr id="28" name="直接箭头连接符 27"/>
          <p:cNvCxnSpPr/>
          <p:nvPr/>
        </p:nvCxnSpPr>
        <p:spPr>
          <a:xfrm>
            <a:off x="1970405" y="3175000"/>
            <a:ext cx="32258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373630" y="3002915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Target points</a:t>
            </a:r>
            <a:endParaRPr lang="en-US" altLang="zh-CN" sz="1400"/>
          </a:p>
        </p:txBody>
      </p:sp>
      <p:sp>
        <p:nvSpPr>
          <p:cNvPr id="30" name="椭圆 29"/>
          <p:cNvSpPr/>
          <p:nvPr/>
        </p:nvSpPr>
        <p:spPr>
          <a:xfrm>
            <a:off x="1054735" y="3476625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31" name="直接箭头连接符 30"/>
          <p:cNvCxnSpPr/>
          <p:nvPr/>
        </p:nvCxnSpPr>
        <p:spPr>
          <a:xfrm>
            <a:off x="1970405" y="3529965"/>
            <a:ext cx="32258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2373630" y="3361055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Current position of the car</a:t>
            </a:r>
            <a:endParaRPr lang="en-US" altLang="zh-CN" sz="1400"/>
          </a:p>
        </p:txBody>
      </p:sp>
      <p:sp>
        <p:nvSpPr>
          <p:cNvPr id="33" name="文本框 32"/>
          <p:cNvSpPr txBox="1"/>
          <p:nvPr/>
        </p:nvSpPr>
        <p:spPr>
          <a:xfrm>
            <a:off x="781685" y="5114925"/>
            <a:ext cx="11156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200" b="1"/>
              <a:t>Publish:</a:t>
            </a:r>
            <a:endParaRPr lang="en-US" altLang="zh-CN" sz="1200" b="1"/>
          </a:p>
        </p:txBody>
      </p:sp>
      <p:sp>
        <p:nvSpPr>
          <p:cNvPr id="34" name="椭圆 33"/>
          <p:cNvSpPr/>
          <p:nvPr/>
        </p:nvSpPr>
        <p:spPr>
          <a:xfrm>
            <a:off x="1061085" y="561086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1295400" y="549529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/car_command</a:t>
            </a:r>
            <a:endParaRPr lang="en-US" altLang="zh-CN" sz="1400"/>
          </a:p>
        </p:txBody>
      </p:sp>
      <p:sp>
        <p:nvSpPr>
          <p:cNvPr id="36" name="椭圆 35"/>
          <p:cNvSpPr/>
          <p:nvPr/>
        </p:nvSpPr>
        <p:spPr>
          <a:xfrm>
            <a:off x="1061085" y="5982970"/>
            <a:ext cx="75565" cy="7556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1295400" y="586486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/reached_goal</a:t>
            </a:r>
            <a:endParaRPr lang="en-US" altLang="zh-CN" sz="1400"/>
          </a:p>
        </p:txBody>
      </p:sp>
      <p:cxnSp>
        <p:nvCxnSpPr>
          <p:cNvPr id="39" name="直接箭头连接符 38"/>
          <p:cNvCxnSpPr/>
          <p:nvPr/>
        </p:nvCxnSpPr>
        <p:spPr>
          <a:xfrm>
            <a:off x="2865120" y="5656580"/>
            <a:ext cx="32258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3187700" y="5495290"/>
            <a:ext cx="2986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command to throttel</a:t>
            </a:r>
            <a:endParaRPr lang="en-US" altLang="zh-CN" sz="1400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2723515" y="6042025"/>
            <a:ext cx="322580" cy="571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3144520" y="5890260"/>
            <a:ext cx="319532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/>
              <a:t>sign to require next target point </a:t>
            </a:r>
            <a:endParaRPr lang="en-US" altLang="zh-CN" sz="1400"/>
          </a:p>
        </p:txBody>
      </p:sp>
      <p:sp>
        <p:nvSpPr>
          <p:cNvPr id="46" name="文本框 45"/>
          <p:cNvSpPr txBox="1"/>
          <p:nvPr/>
        </p:nvSpPr>
        <p:spPr>
          <a:xfrm>
            <a:off x="728345" y="4612005"/>
            <a:ext cx="10044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>
                <a:cs typeface="+mn-lt"/>
                <a:sym typeface="+mn-ea"/>
              </a:rPr>
              <a:t>After receiving a target point, the system </a:t>
            </a:r>
            <a:r>
              <a:rPr lang="zh-CN" altLang="en-US" sz="1200">
                <a:solidFill>
                  <a:srgbClr val="FF0000"/>
                </a:solidFill>
                <a:cs typeface="+mn-lt"/>
                <a:sym typeface="+mn-ea"/>
              </a:rPr>
              <a:t>begins tracking it</a:t>
            </a:r>
            <a:r>
              <a:rPr lang="zh-CN" altLang="en-US" sz="1200">
                <a:cs typeface="+mn-lt"/>
                <a:sym typeface="+mn-ea"/>
              </a:rPr>
              <a:t>, and upon approaching the target, it </a:t>
            </a:r>
            <a:r>
              <a:rPr lang="zh-CN" altLang="en-US" sz="1200">
                <a:solidFill>
                  <a:srgbClr val="FF0000"/>
                </a:solidFill>
                <a:cs typeface="+mn-lt"/>
                <a:sym typeface="+mn-ea"/>
              </a:rPr>
              <a:t>publishes a “reached_goal”</a:t>
            </a:r>
            <a:r>
              <a:rPr lang="zh-CN" altLang="en-US" sz="1200">
                <a:cs typeface="+mn-lt"/>
                <a:sym typeface="+mn-ea"/>
              </a:rPr>
              <a:t> message to </a:t>
            </a:r>
            <a:r>
              <a:rPr lang="zh-CN" altLang="en-US" sz="1200">
                <a:solidFill>
                  <a:srgbClr val="FF0000"/>
                </a:solidFill>
                <a:cs typeface="+mn-lt"/>
                <a:sym typeface="+mn-ea"/>
              </a:rPr>
              <a:t>request the next target point.</a:t>
            </a:r>
            <a:endParaRPr lang="zh-CN" altLang="en-US" sz="1200">
              <a:solidFill>
                <a:srgbClr val="FF0000"/>
              </a:solidFill>
              <a:cs typeface="+mn-lt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777355" y="3333750"/>
            <a:ext cx="340042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1200">
                <a:sym typeface="+mn-ea"/>
              </a:rPr>
              <a:t>Figure 11. Subscriptions and publications of the dummy_controller node</a:t>
            </a:r>
            <a:endParaRPr lang="en-US" altLang="zh-CN" sz="1200">
              <a:sym typeface="+mn-ea"/>
            </a:endParaRPr>
          </a:p>
        </p:txBody>
      </p:sp>
      <p:pic>
        <p:nvPicPr>
          <p:cNvPr id="3" name="图片 10" descr="0b55b78c1f56226c54fd500fbe8a66a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8250" y="1460500"/>
            <a:ext cx="8220075" cy="18954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10" grpId="0"/>
      <p:bldP spid="13" grpId="0"/>
      <p:bldP spid="14" grpId="0" animBg="1"/>
      <p:bldP spid="15" grpId="0"/>
      <p:bldP spid="16" grpId="0" animBg="1"/>
      <p:bldP spid="17" grpId="0"/>
      <p:bldP spid="18" grpId="0"/>
      <p:bldP spid="27" grpId="0"/>
      <p:bldP spid="29" grpId="0"/>
      <p:bldP spid="30" grpId="0" animBg="1"/>
      <p:bldP spid="32" grpId="0"/>
      <p:bldP spid="2" grpId="0"/>
      <p:bldP spid="7" grpId="1"/>
      <p:bldP spid="8" grpId="1" animBg="1"/>
      <p:bldP spid="10" grpId="1"/>
      <p:bldP spid="13" grpId="1"/>
      <p:bldP spid="14" grpId="1" animBg="1"/>
      <p:bldP spid="15" grpId="1"/>
      <p:bldP spid="16" grpId="1" animBg="1"/>
      <p:bldP spid="17" grpId="1"/>
      <p:bldP spid="18" grpId="1"/>
      <p:bldP spid="27" grpId="1"/>
      <p:bldP spid="29" grpId="1"/>
      <p:bldP spid="30" grpId="1" animBg="1"/>
      <p:bldP spid="32" grpId="1"/>
      <p:bldP spid="2" grpId="1"/>
      <p:bldP spid="46" grpId="0"/>
      <p:bldP spid="46" grpId="1"/>
      <p:bldP spid="33" grpId="0"/>
      <p:bldP spid="34" grpId="0" animBg="1"/>
      <p:bldP spid="35" grpId="0"/>
      <p:bldP spid="36" grpId="0" animBg="1"/>
      <p:bldP spid="37" grpId="0"/>
      <p:bldP spid="40" grpId="0"/>
      <p:bldP spid="42" grpId="0"/>
      <p:bldP spid="33" grpId="1"/>
      <p:bldP spid="34" grpId="1" animBg="1"/>
      <p:bldP spid="35" grpId="1"/>
      <p:bldP spid="36" grpId="1" animBg="1"/>
      <p:bldP spid="37" grpId="1"/>
      <p:bldP spid="40" grpId="1"/>
      <p:bldP spid="4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0275" y="416560"/>
            <a:ext cx="711200" cy="444500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484505" y="229870"/>
            <a:ext cx="4991100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 b="1">
                <a:latin typeface="Times New Roman" panose="02020603050405020304" charset="0"/>
                <a:cs typeface="Times New Roman" panose="02020603050405020304" charset="0"/>
              </a:rPr>
              <a:t>Result and Limitations</a:t>
            </a:r>
            <a:endParaRPr lang="en-US" altLang="zh-CN" sz="2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01040" y="1601470"/>
            <a:ext cx="6096000" cy="1350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90195" indent="-277495" algn="l" rtl="0" eaLnBrk="0">
              <a:lnSpc>
                <a:spcPct val="93000"/>
              </a:lnSpc>
              <a:spcBef>
                <a:spcPts val="455"/>
              </a:spcBef>
            </a:pPr>
            <a:r>
              <a:rPr lang="en-US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Result:</a:t>
            </a:r>
            <a:endParaRPr sz="1500" kern="0" spc="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290195" indent="-277495" algn="l" rtl="0" eaLnBrk="0">
              <a:lnSpc>
                <a:spcPct val="93000"/>
              </a:lnSpc>
              <a:spcBef>
                <a:spcPts val="455"/>
              </a:spcBef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 </a:t>
            </a:r>
            <a:r>
              <a:rPr lang="en-US" altLang="zh-CN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Successfully generated map, driving path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.</a:t>
            </a:r>
            <a:endParaRPr sz="1500" kern="0" spc="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290195" indent="-277495" algn="l" rtl="0" eaLnBrk="0">
              <a:lnSpc>
                <a:spcPct val="93000"/>
              </a:lnSpc>
              <a:spcBef>
                <a:spcPts val="455"/>
              </a:spcBef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 </a:t>
            </a:r>
            <a:r>
              <a:rPr lang="en-US" altLang="zh-CN" sz="1500" dirty="0">
                <a:latin typeface="Arial" panose="020B0604020202020204"/>
                <a:ea typeface="Arial" panose="020B0604020202020204"/>
                <a:cs typeface="Arial" panose="020B0604020202020204"/>
              </a:rPr>
              <a:t>Successfully detected the traffic light and responded correctly</a:t>
            </a:r>
            <a:endParaRPr lang="en-US" altLang="zh-CN"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47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Drives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around</a:t>
            </a:r>
            <a:r>
              <a:rPr sz="15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as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fast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as</a:t>
            </a: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 </a:t>
            </a:r>
            <a:r>
              <a:rPr sz="1500" kern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possible</a:t>
            </a: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.</a:t>
            </a:r>
            <a:endParaRPr sz="1500" kern="0" spc="1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12700" algn="l" rtl="0" eaLnBrk="0">
              <a:lnSpc>
                <a:spcPct val="82000"/>
              </a:lnSpc>
              <a:spcBef>
                <a:spcPts val="47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</a:t>
            </a:r>
            <a:r>
              <a:rPr lang="en-US" altLang="zh-CN" sz="15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The car can complete the task according to the path</a:t>
            </a:r>
            <a:endParaRPr lang="en-US" altLang="zh-CN" sz="1500" kern="0" spc="6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01040" y="3692525"/>
            <a:ext cx="7975600" cy="10782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90195" indent="-277495" algn="l" rtl="0" eaLnBrk="0">
              <a:lnSpc>
                <a:spcPct val="93000"/>
              </a:lnSpc>
              <a:spcBef>
                <a:spcPts val="455"/>
              </a:spcBef>
            </a:pPr>
            <a:r>
              <a:rPr lang="en-US" altLang="zh-CN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Limitations</a:t>
            </a:r>
            <a:r>
              <a:rPr lang="en-US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:</a:t>
            </a:r>
            <a:endParaRPr sz="1500" kern="0" spc="2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290195" indent="-277495" algn="l" rtl="0" eaLnBrk="0">
              <a:lnSpc>
                <a:spcPct val="93000"/>
              </a:lnSpc>
              <a:spcBef>
                <a:spcPts val="455"/>
              </a:spcBef>
            </a:pP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 </a:t>
            </a:r>
            <a:r>
              <a:rPr lang="en-US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F</a:t>
            </a:r>
            <a:r>
              <a:rPr lang="en-US" sz="1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ail to use algorithm to automatically generate trajectory</a:t>
            </a:r>
            <a:endParaRPr lang="en-US" altLang="zh-CN"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47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</a:t>
            </a:r>
            <a:r>
              <a:rPr lang="en-US" altLang="zh-CN"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Difficulty responding to yellow lights (speeding up or slowing down)</a:t>
            </a:r>
            <a:endParaRPr lang="en-US" altLang="zh-CN" sz="1500" kern="0" spc="1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  <a:p>
            <a:pPr marL="12700" algn="l" rtl="0" eaLnBrk="0">
              <a:lnSpc>
                <a:spcPct val="82000"/>
              </a:lnSpc>
              <a:spcBef>
                <a:spcPts val="475"/>
              </a:spcBef>
            </a:pPr>
            <a:r>
              <a:rPr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•   </a:t>
            </a:r>
            <a:r>
              <a:rPr lang="en-US"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I</a:t>
            </a:r>
            <a:r>
              <a:rPr lang="en-US" altLang="zh-CN" sz="15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nstability at high speeds</a:t>
            </a:r>
            <a:endParaRPr lang="en-US" altLang="zh-CN" sz="1500" kern="0" spc="1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picture 1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2192000" cy="6858000"/>
          </a:xfrm>
          <a:prstGeom prst="rect">
            <a:avLst/>
          </a:prstGeom>
        </p:spPr>
      </p:pic>
      <p:sp>
        <p:nvSpPr>
          <p:cNvPr id="124" name="textbox 124"/>
          <p:cNvSpPr/>
          <p:nvPr/>
        </p:nvSpPr>
        <p:spPr>
          <a:xfrm>
            <a:off x="899675" y="1029865"/>
            <a:ext cx="4728209" cy="4159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30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Thank</a:t>
            </a:r>
            <a:r>
              <a:rPr sz="3000" kern="0" spc="2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you for y</a:t>
            </a:r>
            <a:r>
              <a:rPr sz="30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our</a:t>
            </a:r>
            <a:r>
              <a:rPr sz="3000" kern="0" spc="2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attention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4595</Words>
  <Application>WPS 演示</Application>
  <PresentationFormat>宽屏</PresentationFormat>
  <Paragraphs>185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Times New Roman</vt:lpstr>
      <vt:lpstr>StarSymbol</vt:lpstr>
      <vt:lpstr>Segoe Print</vt:lpstr>
      <vt:lpstr>Arial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KX</cp:lastModifiedBy>
  <cp:revision>192</cp:revision>
  <dcterms:created xsi:type="dcterms:W3CDTF">2025-07-18T22:15:00Z</dcterms:created>
  <dcterms:modified xsi:type="dcterms:W3CDTF">2025-07-28T10:18:16Z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782B8024B62BAA5C7DC77A68E121601F_42</vt:lpwstr>
  </property>
</Properties>
</file>